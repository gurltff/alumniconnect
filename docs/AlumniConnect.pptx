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3cd05d-8acd-5cb3-7867-d06281705028}">
          <p14:sldIdLst>
            <p14:sldId id="256"/>
            <p14:sldId id="257"/>
          </p14:sldIdLst>
        </p14:section>
        <p14:section name="The platform" id="{81b8311f-2ef5-1d4c-6a7e-99438056e17f}">
          <p14:sldIdLst>
            <p14:sldId id="258"/>
            <p14:sldId id="259"/>
            <p14:sldId id="260"/>
            <p14:sldId id="261"/>
            <p14:sldId id="262"/>
          </p14:sldIdLst>
        </p14:section>
        <p14:section name="Records and reports" id="{abdf548f-74f9-73c7-5bc4-531607c3741a}">
          <p14:sldIdLst>
            <p14:sldId id="263"/>
            <p14:sldId id="264"/>
            <p14:sldId id="265"/>
            <p14:sldId id="266"/>
          </p14:sldIdLst>
        </p14:section>
        <p14:section name="How it works" id="{62a8140c-9ec3-f875-912e-589aa140214f}">
          <p14:sldIdLst>
            <p14:sldId id="267"/>
            <p14:sldId id="268"/>
            <p14:sldId id="269"/>
          </p14:sldIdLst>
        </p14:section>
        <p14:section name="Close" id="{e81d8053-a1a2-4542-ca69-1b39d0e26f8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AlumniConnect brings students, alumni, faculty and the IQAC onto one platform where every achievement is verified by the college.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AlumniConnect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AlumniConnect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 verified alumni, achievement and placement network for Your College Name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937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Prepared for the IQAC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Live demo: alumniconnect-cpva.onrender.com</a:t>
            </a:r>
            <a:endParaRPr lang="en-US" sz="1300" dirty="0"/>
          </a:p>
        </p:txBody>
      </p:sp>
      <p:sp>
        <p:nvSpPr>
          <p:cNvPr id="5" name="Login screen frame"/>
          <p:cNvSpPr/>
          <p:nvPr/>
        </p:nvSpPr>
        <p:spPr>
          <a:xfrm>
            <a:off x="5943600" y="1417320"/>
            <a:ext cx="5760720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6" name="Login screen" descr="/tmp/claude-0/-home-user-Alumniconnect/5967696e-4c5b-59de-8dd8-aa254d433b8b/scratchpad/deck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17320"/>
            <a:ext cx="5760720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alumni data is handled today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3474720" cy="237744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30,000+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alumni files exist only on paper, with nothing stored online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4297680" y="1554480"/>
            <a:ext cx="3474720" cy="237744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Every year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788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IQAC collects NAAC and NIRF data by hand from forms and email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8046720" y="1554480"/>
            <a:ext cx="3474720" cy="237744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No link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788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between current students and the seniors who could guide them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Achievements are self-reported, so nobody can rely on them.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Placement and higher-studies figures are counted manually for each report.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Graduates drop out of contact once they leave.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platform, four kinds of users</a:t>
            </a:r>
            <a:endParaRPr lang="en-US" sz="3200" dirty="0"/>
          </a:p>
        </p:txBody>
      </p:sp>
      <p:sp>
        <p:nvSpPr>
          <p:cNvPr id="3" name="Students icon bg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4" name="Studen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65176" cy="265176"/>
          </a:xfrm>
          <a:prstGeom prst="rect">
            <a:avLst/>
          </a:prstGeom>
        </p:spPr>
      </p:pic>
      <p:sp>
        <p:nvSpPr>
          <p:cNvPr id="5" name="Students"/>
          <p:cNvSpPr txBox="1"/>
          <p:nvPr/>
        </p:nvSpPr>
        <p:spPr>
          <a:xfrm>
            <a:off x="1234440" y="1371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Build a verified profile from 1st year and find seniors who took the path they want.</a:t>
            </a:r>
            <a:endParaRPr lang="en-US" sz="1600" dirty="0"/>
          </a:p>
        </p:txBody>
      </p:sp>
      <p:sp>
        <p:nvSpPr>
          <p:cNvPr id="6" name="Alumni icon bg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7" name="Alumni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724912"/>
            <a:ext cx="265176" cy="265176"/>
          </a:xfrm>
          <a:prstGeom prst="rect">
            <a:avLst/>
          </a:prstGeom>
        </p:spPr>
      </p:pic>
      <p:sp>
        <p:nvSpPr>
          <p:cNvPr id="8" name="Alumni"/>
          <p:cNvSpPr txBox="1"/>
          <p:nvPr/>
        </p:nvSpPr>
        <p:spPr>
          <a:xfrm>
            <a:off x="1234440" y="25603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Alumni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Keep their status current, mentor juniors, and fill the alumni form online.</a:t>
            </a:r>
            <a:endParaRPr lang="en-US" sz="1600" dirty="0"/>
          </a:p>
        </p:txBody>
      </p:sp>
      <p:sp>
        <p:nvSpPr>
          <p:cNvPr id="9" name="Faculty icon bg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0" name="Facul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913632"/>
            <a:ext cx="265176" cy="265176"/>
          </a:xfrm>
          <a:prstGeom prst="rect">
            <a:avLst/>
          </a:prstGeom>
        </p:spPr>
      </p:pic>
      <p:sp>
        <p:nvSpPr>
          <p:cNvPr id="11" name="Faculty"/>
          <p:cNvSpPr txBox="1"/>
          <p:nvPr/>
        </p:nvSpPr>
        <p:spPr>
          <a:xfrm>
            <a:off x="1234440" y="37490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Faculty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Approve achievements in one click with the proof in front of them.</a:t>
            </a:r>
            <a:endParaRPr lang="en-US" sz="1600" dirty="0"/>
          </a:p>
        </p:txBody>
      </p:sp>
      <p:sp>
        <p:nvSpPr>
          <p:cNvPr id="12" name="IQAC icon bg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3" name="IQA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102352"/>
            <a:ext cx="265176" cy="265176"/>
          </a:xfrm>
          <a:prstGeom prst="rect">
            <a:avLst/>
          </a:prstGeom>
        </p:spPr>
      </p:pic>
      <p:sp>
        <p:nvSpPr>
          <p:cNvPr id="14" name="IQAC"/>
          <p:cNvSpPr txBox="1"/>
          <p:nvPr/>
        </p:nvSpPr>
        <p:spPr>
          <a:xfrm>
            <a:off x="1234440" y="49377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IQAC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Digitize old records and get placement, NAAC and NIRF numbers instantly.</a:t>
            </a:r>
            <a:endParaRPr lang="en-US" sz="1600" dirty="0"/>
          </a:p>
        </p:txBody>
      </p:sp>
      <p:sp>
        <p:nvSpPr>
          <p:cNvPr id="15" name="Student dashboard frame"/>
          <p:cNvSpPr/>
          <p:nvPr/>
        </p:nvSpPr>
        <p:spPr>
          <a:xfrm>
            <a:off x="5669280" y="1417320"/>
            <a:ext cx="5943600" cy="3712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16" name="Student dashboard" descr="/tmp/claude-0/-home-user-Alumniconnect/5967696e-4c5b-59de-8dd8-aa254d433b8b/scratchpad/deck/shots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417320"/>
            <a:ext cx="5943600" cy="3712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669280" y="5257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Student dashboard: mentors, things waiting, activity and progress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Profiles that show a verified journey</a:t>
            </a:r>
            <a:endParaRPr lang="en-US" sz="3200" dirty="0"/>
          </a:p>
        </p:txBody>
      </p:sp>
      <p:sp>
        <p:nvSpPr>
          <p:cNvPr id="3" name="Profile journey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4" name="Profile journey" descr="/tmp/claude-0/-home-user-Alumniconnect/5967696e-4c5b-59de-8dd8-aa254d433b8b/scratchpad/deck/shots/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Year by year icon bg"/>
          <p:cNvSpPr/>
          <p:nvPr/>
        </p:nvSpPr>
        <p:spPr>
          <a:xfrm>
            <a:off x="78638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Year by yea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536192"/>
            <a:ext cx="265176" cy="265176"/>
          </a:xfrm>
          <a:prstGeom prst="rect">
            <a:avLst/>
          </a:prstGeom>
        </p:spPr>
      </p:pic>
      <p:sp>
        <p:nvSpPr>
          <p:cNvPr id="7" name="Year by year"/>
          <p:cNvSpPr txBox="1"/>
          <p:nvPr/>
        </p:nvSpPr>
        <p:spPr>
          <a:xfrm>
            <a:off x="8549640" y="1371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Year by year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Societies, roles, internships and achievements laid out from 1st year to career.</a:t>
            </a:r>
            <a:endParaRPr lang="en-US" sz="1600" dirty="0"/>
          </a:p>
        </p:txBody>
      </p:sp>
      <p:sp>
        <p:nvSpPr>
          <p:cNvPr id="8" name="Verified by the college icon bg"/>
          <p:cNvSpPr/>
          <p:nvPr/>
        </p:nvSpPr>
        <p:spPr>
          <a:xfrm>
            <a:off x="7863840" y="2697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9" name="Verified by the colle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16352"/>
            <a:ext cx="265176" cy="265176"/>
          </a:xfrm>
          <a:prstGeom prst="rect">
            <a:avLst/>
          </a:prstGeom>
        </p:spPr>
      </p:pic>
      <p:sp>
        <p:nvSpPr>
          <p:cNvPr id="10" name="Verified by the college"/>
          <p:cNvSpPr txBox="1"/>
          <p:nvPr/>
        </p:nvSpPr>
        <p:spPr>
          <a:xfrm>
            <a:off x="854964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Verified by the college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Each milestone shows who verified it and when. Others see only verified items.</a:t>
            </a:r>
            <a:endParaRPr lang="en-US" sz="1600" dirty="0"/>
          </a:p>
        </p:txBody>
      </p:sp>
      <p:sp>
        <p:nvSpPr>
          <p:cNvPr id="11" name="One shareable link icon bg"/>
          <p:cNvSpPr/>
          <p:nvPr/>
        </p:nvSpPr>
        <p:spPr>
          <a:xfrm>
            <a:off x="7863840" y="39776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One shareable lin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265176" cy="265176"/>
          </a:xfrm>
          <a:prstGeom prst="rect">
            <a:avLst/>
          </a:prstGeom>
        </p:spPr>
      </p:pic>
      <p:sp>
        <p:nvSpPr>
          <p:cNvPr id="13" name="One shareable link"/>
          <p:cNvSpPr txBox="1"/>
          <p:nvPr/>
        </p:nvSpPr>
        <p:spPr>
          <a:xfrm>
            <a:off x="8549640" y="3931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One shareable link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 profile students can put on a resume instead of self-claimed lines.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5806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An alumna’s profile as a student sees it (sample data)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Find seniors by the path they took</a:t>
            </a:r>
            <a:endParaRPr lang="en-US" sz="3200" dirty="0"/>
          </a:p>
        </p:txBody>
      </p:sp>
      <p:sp>
        <p:nvSpPr>
          <p:cNvPr id="3" name="People search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4" name="People search" descr="/tmp/claude-0/-home-user-Alumniconnect/5967696e-4c5b-59de-8dd8-aa254d433b8b/scratchpad/deck/shots/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Search by outcome icon bg"/>
          <p:cNvSpPr/>
          <p:nvPr/>
        </p:nvSpPr>
        <p:spPr>
          <a:xfrm>
            <a:off x="78638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Search by outco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536192"/>
            <a:ext cx="265176" cy="265176"/>
          </a:xfrm>
          <a:prstGeom prst="rect">
            <a:avLst/>
          </a:prstGeom>
        </p:spPr>
      </p:pic>
      <p:sp>
        <p:nvSpPr>
          <p:cNvPr id="7" name="Search by outcome"/>
          <p:cNvSpPr txBox="1"/>
          <p:nvPr/>
        </p:nvSpPr>
        <p:spPr>
          <a:xfrm>
            <a:off x="8549640" y="1371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by outcome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Cleared a competitive exam, went into research, working in tech, started a business.</a:t>
            </a:r>
            <a:endParaRPr lang="en-US" sz="1600" dirty="0"/>
          </a:p>
        </p:txBody>
      </p:sp>
      <p:sp>
        <p:nvSpPr>
          <p:cNvPr id="8" name="See how they got there icon bg"/>
          <p:cNvSpPr/>
          <p:nvPr/>
        </p:nvSpPr>
        <p:spPr>
          <a:xfrm>
            <a:off x="7863840" y="2697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9" name="See how they got ther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16352"/>
            <a:ext cx="265176" cy="265176"/>
          </a:xfrm>
          <a:prstGeom prst="rect">
            <a:avLst/>
          </a:prstGeom>
        </p:spPr>
      </p:pic>
      <p:sp>
        <p:nvSpPr>
          <p:cNvPr id="10" name="See how they got there"/>
          <p:cNvSpPr txBox="1"/>
          <p:nvPr/>
        </p:nvSpPr>
        <p:spPr>
          <a:xfrm>
            <a:off x="854964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See how they got there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Each result shows the milestones that led to the outcome.</a:t>
            </a:r>
            <a:endParaRPr lang="en-US" sz="1600" dirty="0"/>
          </a:p>
        </p:txBody>
      </p:sp>
      <p:sp>
        <p:nvSpPr>
          <p:cNvPr id="11" name="Filters icon bg"/>
          <p:cNvSpPr/>
          <p:nvPr/>
        </p:nvSpPr>
        <p:spPr>
          <a:xfrm>
            <a:off x="7863840" y="39776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Filter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265176" cy="265176"/>
          </a:xfrm>
          <a:prstGeom prst="rect">
            <a:avLst/>
          </a:prstGeom>
        </p:spPr>
      </p:pic>
      <p:sp>
        <p:nvSpPr>
          <p:cNvPr id="13" name="Filters"/>
          <p:cNvSpPr txBox="1"/>
          <p:nvPr/>
        </p:nvSpPr>
        <p:spPr>
          <a:xfrm>
            <a:off x="8549640" y="3931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Filters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Department, alumni or students, and who is open to mentoring.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5806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People who cleared a competitive exam (sample data)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Mentoring chat that starts with a request</a:t>
            </a:r>
            <a:endParaRPr lang="en-US" sz="3200" dirty="0"/>
          </a:p>
        </p:txBody>
      </p:sp>
      <p:sp>
        <p:nvSpPr>
          <p:cNvPr id="3" name="Request first icon bg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4" name="Request fir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65176" cy="265176"/>
          </a:xfrm>
          <a:prstGeom prst="rect">
            <a:avLst/>
          </a:prstGeom>
        </p:spPr>
      </p:pic>
      <p:sp>
        <p:nvSpPr>
          <p:cNvPr id="5" name="Request first"/>
          <p:cNvSpPr txBox="1"/>
          <p:nvPr/>
        </p:nvSpPr>
        <p:spPr>
          <a:xfrm>
            <a:off x="1234440" y="13716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Request first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 student sends a short note and a purpose. The chat opens only if the senior accepts.</a:t>
            </a:r>
            <a:endParaRPr lang="en-US" sz="1600" dirty="0"/>
          </a:p>
        </p:txBody>
      </p:sp>
      <p:sp>
        <p:nvSpPr>
          <p:cNvPr id="6" name="Private by default icon bg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7" name="Private by defaul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16352"/>
            <a:ext cx="265176" cy="265176"/>
          </a:xfrm>
          <a:prstGeom prst="rect">
            <a:avLst/>
          </a:prstGeom>
        </p:spPr>
      </p:pic>
      <p:sp>
        <p:nvSpPr>
          <p:cNvPr id="8" name="Private by default"/>
          <p:cNvSpPr txBox="1"/>
          <p:nvPr/>
        </p:nvSpPr>
        <p:spPr>
          <a:xfrm>
            <a:off x="123444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Private by default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Phone numbers and emails are never shown. Anyone can turn requests off or report a user.</a:t>
            </a:r>
            <a:endParaRPr lang="en-US" sz="1600" dirty="0"/>
          </a:p>
        </p:txBody>
      </p:sp>
      <p:sp>
        <p:nvSpPr>
          <p:cNvPr id="9" name="Counts as engagement icon bg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0" name="Counts as engagemen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96512"/>
            <a:ext cx="265176" cy="265176"/>
          </a:xfrm>
          <a:prstGeom prst="rect">
            <a:avLst/>
          </a:prstGeom>
        </p:spPr>
      </p:pic>
      <p:sp>
        <p:nvSpPr>
          <p:cNvPr id="11" name="Counts as engagement"/>
          <p:cNvSpPr txBox="1"/>
          <p:nvPr/>
        </p:nvSpPr>
        <p:spPr>
          <a:xfrm>
            <a:off x="1234440" y="39319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Counts as engagement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Accepted requests feed the NAAC alumni engagement report.</a:t>
            </a:r>
            <a:endParaRPr lang="en-US" sz="1600" dirty="0"/>
          </a:p>
        </p:txBody>
      </p:sp>
      <p:sp>
        <p:nvSpPr>
          <p:cNvPr id="12" name="Chat screen frame"/>
          <p:cNvSpPr/>
          <p:nvPr/>
        </p:nvSpPr>
        <p:spPr>
          <a:xfrm>
            <a:off x="5120640" y="1325880"/>
            <a:ext cx="6492240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13" name="Chat screen" descr="/tmp/claude-0/-home-user-Alumniconnect/5967696e-4c5b-59de-8dd8-aa254d433b8b/scratchpad/deck/shot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25880"/>
            <a:ext cx="6492240" cy="40599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120640" y="55321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Students, alumni and faculty can chat. The IQAC admin account cannot.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Faculty verify every achievement</a:t>
            </a:r>
            <a:endParaRPr lang="en-US" sz="3200" dirty="0"/>
          </a:p>
        </p:txBody>
      </p:sp>
      <p:sp>
        <p:nvSpPr>
          <p:cNvPr id="3" name="Verification inbox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4" name="Verification inbox" descr="/tmp/claude-0/-home-user-Alumniconnect/5967696e-4c5b-59de-8dd8-aa254d433b8b/scratchpad/deck/shots/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Proof attached icon bg"/>
          <p:cNvSpPr/>
          <p:nvPr/>
        </p:nvSpPr>
        <p:spPr>
          <a:xfrm>
            <a:off x="78638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Proof attach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536192"/>
            <a:ext cx="265176" cy="265176"/>
          </a:xfrm>
          <a:prstGeom prst="rect">
            <a:avLst/>
          </a:prstGeom>
        </p:spPr>
      </p:pic>
      <p:sp>
        <p:nvSpPr>
          <p:cNvPr id="7" name="Proof attached"/>
          <p:cNvSpPr txBox="1"/>
          <p:nvPr/>
        </p:nvSpPr>
        <p:spPr>
          <a:xfrm>
            <a:off x="8549640" y="1371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Proof attached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Certificate or link, level (college to international) and date.</a:t>
            </a:r>
            <a:endParaRPr lang="en-US" sz="1600" dirty="0"/>
          </a:p>
        </p:txBody>
      </p:sp>
      <p:sp>
        <p:nvSpPr>
          <p:cNvPr id="8" name="Routed automatically icon bg"/>
          <p:cNvSpPr/>
          <p:nvPr/>
        </p:nvSpPr>
        <p:spPr>
          <a:xfrm>
            <a:off x="7863840" y="2697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9" name="Routed automaticall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16352"/>
            <a:ext cx="265176" cy="265176"/>
          </a:xfrm>
          <a:prstGeom prst="rect">
            <a:avLst/>
          </a:prstGeom>
        </p:spPr>
      </p:pic>
      <p:sp>
        <p:nvSpPr>
          <p:cNvPr id="10" name="Routed automatically"/>
          <p:cNvSpPr txBox="1"/>
          <p:nvPr/>
        </p:nvSpPr>
        <p:spPr>
          <a:xfrm>
            <a:off x="854964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Routed automatically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To the department’s faculty verifier, or to IQAC for alumni updates.</a:t>
            </a:r>
            <a:endParaRPr lang="en-US" sz="1600" dirty="0"/>
          </a:p>
        </p:txBody>
      </p:sp>
      <p:sp>
        <p:nvSpPr>
          <p:cNvPr id="11" name="Approve, ask, or reject icon bg"/>
          <p:cNvSpPr/>
          <p:nvPr/>
        </p:nvSpPr>
        <p:spPr>
          <a:xfrm>
            <a:off x="7863840" y="39776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Approve, ask, or rejec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265176" cy="265176"/>
          </a:xfrm>
          <a:prstGeom prst="rect">
            <a:avLst/>
          </a:prstGeom>
        </p:spPr>
      </p:pic>
      <p:sp>
        <p:nvSpPr>
          <p:cNvPr id="13" name="Approve, ask, or reject"/>
          <p:cNvSpPr txBox="1"/>
          <p:nvPr/>
        </p:nvSpPr>
        <p:spPr>
          <a:xfrm>
            <a:off x="8549640" y="3931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Approve, ask, or reject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Students see the decision and the reason on their profile.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Digitizing 30,000 paper forms</a:t>
            </a:r>
            <a:endParaRPr lang="en-US" sz="3200" dirty="0"/>
          </a:p>
        </p:txBody>
      </p:sp>
      <p:sp>
        <p:nvSpPr>
          <p:cNvPr id="3" name="Digitize review screen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4" name="Digitize review screen" descr="/tmp/claude-0/-home-user-Alumniconnect/5967696e-4c5b-59de-8dd8-aa254d433b8b/scratchpad/deck/shots/digit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1. Scan in bundles icon bg"/>
          <p:cNvSpPr/>
          <p:nvPr/>
        </p:nvSpPr>
        <p:spPr>
          <a:xfrm>
            <a:off x="78638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1. Scan in bund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536192"/>
            <a:ext cx="265176" cy="265176"/>
          </a:xfrm>
          <a:prstGeom prst="rect">
            <a:avLst/>
          </a:prstGeom>
        </p:spPr>
      </p:pic>
      <p:sp>
        <p:nvSpPr>
          <p:cNvPr id="7" name="1. Scan in bundles"/>
          <p:cNvSpPr txBox="1"/>
          <p:nvPr/>
        </p:nvSpPr>
        <p:spPr>
          <a:xfrm>
            <a:off x="8549640" y="1371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 Scan in bundles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Phone photos or scanner files, one form per file.</a:t>
            </a:r>
            <a:endParaRPr lang="en-US" sz="1600" dirty="0"/>
          </a:p>
        </p:txBody>
      </p:sp>
      <p:sp>
        <p:nvSpPr>
          <p:cNvPr id="8" name="2. Or type it in icon bg"/>
          <p:cNvSpPr/>
          <p:nvPr/>
        </p:nvSpPr>
        <p:spPr>
          <a:xfrm>
            <a:off x="7863840" y="251460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9" name="2. Or type it i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633472"/>
            <a:ext cx="265176" cy="265176"/>
          </a:xfrm>
          <a:prstGeom prst="rect">
            <a:avLst/>
          </a:prstGeom>
        </p:spPr>
      </p:pic>
      <p:sp>
        <p:nvSpPr>
          <p:cNvPr id="10" name="2. Or type it in"/>
          <p:cNvSpPr txBox="1"/>
          <p:nvPr/>
        </p:nvSpPr>
        <p:spPr>
          <a:xfrm>
            <a:off x="8549640" y="24688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 Or type it in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 screen laid out exactly like the paper form.</a:t>
            </a:r>
            <a:endParaRPr lang="en-US" sz="1600" dirty="0"/>
          </a:p>
        </p:txBody>
      </p:sp>
      <p:sp>
        <p:nvSpPr>
          <p:cNvPr id="11" name="3. Or import Excel icon bg"/>
          <p:cNvSpPr/>
          <p:nvPr/>
        </p:nvSpPr>
        <p:spPr>
          <a:xfrm>
            <a:off x="7863840" y="36118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3. Or import Exce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730752"/>
            <a:ext cx="265176" cy="265176"/>
          </a:xfrm>
          <a:prstGeom prst="rect">
            <a:avLst/>
          </a:prstGeom>
        </p:spPr>
      </p:pic>
      <p:sp>
        <p:nvSpPr>
          <p:cNvPr id="13" name="3. Or import Excel"/>
          <p:cNvSpPr txBox="1"/>
          <p:nvPr/>
        </p:nvSpPr>
        <p:spPr>
          <a:xfrm>
            <a:off x="8549640" y="3566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 Or import Excel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Batches already in a spreadsheet go in through a template.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63840" y="4754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 person checks every record against the scan before it is saved. AI reading of handwriting is optional and only pre-fills the fields.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806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Scan on the left, form fields on the right (fictional sample form)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paper alumni form, now online</a:t>
            </a:r>
            <a:endParaRPr lang="en-US" sz="3200" dirty="0"/>
          </a:p>
        </p:txBody>
      </p:sp>
      <p:sp>
        <p:nvSpPr>
          <p:cNvPr id="3" name="Same questions icon bg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4" name="Same ques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65176" cy="265176"/>
          </a:xfrm>
          <a:prstGeom prst="rect">
            <a:avLst/>
          </a:prstGeom>
        </p:spPr>
      </p:pic>
      <p:sp>
        <p:nvSpPr>
          <p:cNvPr id="5" name="Same questions"/>
          <p:cNvSpPr txBox="1"/>
          <p:nvPr/>
        </p:nvSpPr>
        <p:spPr>
          <a:xfrm>
            <a:off x="1234440" y="13716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Same questions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Internships, current status, course and university, or company, designation, location and package.</a:t>
            </a:r>
            <a:endParaRPr lang="en-US" sz="1600" dirty="0"/>
          </a:p>
        </p:txBody>
      </p:sp>
      <p:sp>
        <p:nvSpPr>
          <p:cNvPr id="6" name="Exams in two rows icon bg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7" name="Exams in two row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16352"/>
            <a:ext cx="265176" cy="265176"/>
          </a:xfrm>
          <a:prstGeom prst="rect">
            <a:avLst/>
          </a:prstGeom>
        </p:spPr>
      </p:pic>
      <p:sp>
        <p:nvSpPr>
          <p:cNvPr id="8" name="Exams in two rows"/>
          <p:cNvSpPr txBox="1"/>
          <p:nvPr/>
        </p:nvSpPr>
        <p:spPr>
          <a:xfrm>
            <a:off x="123444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Exams in two rows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Passed and appeared: NET, SET/SLET, GATE, CAT, IAS/IPS, State PSC, UPSC, others.</a:t>
            </a:r>
            <a:endParaRPr lang="en-US" sz="1600" dirty="0"/>
          </a:p>
        </p:txBody>
      </p:sp>
      <p:sp>
        <p:nvSpPr>
          <p:cNvPr id="9" name="Offer letter as proof icon bg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0" name="Offer letter as proof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96512"/>
            <a:ext cx="265176" cy="265176"/>
          </a:xfrm>
          <a:prstGeom prst="rect">
            <a:avLst/>
          </a:prstGeom>
        </p:spPr>
      </p:pic>
      <p:sp>
        <p:nvSpPr>
          <p:cNvPr id="11" name="Offer letter as proof"/>
          <p:cNvSpPr txBox="1"/>
          <p:nvPr/>
        </p:nvSpPr>
        <p:spPr>
          <a:xfrm>
            <a:off x="1234440" y="39319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Offer letter as proof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Alumni attach it once. IQAC verifies the form from Records.</a:t>
            </a:r>
            <a:endParaRPr lang="en-US" sz="1600" dirty="0"/>
          </a:p>
        </p:txBody>
      </p:sp>
      <p:sp>
        <p:nvSpPr>
          <p:cNvPr id="12" name="Alumni form frame"/>
          <p:cNvSpPr/>
          <p:nvPr/>
        </p:nvSpPr>
        <p:spPr>
          <a:xfrm>
            <a:off x="5120640" y="1325880"/>
            <a:ext cx="6492240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13" name="Alumni form" descr="/tmp/claude-0/-home-user-Alumniconnect/5967696e-4c5b-59de-8dd8-aa254d433b8b/scratchpad/deck/shots/alumnifo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25880"/>
            <a:ext cx="6492240" cy="40599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Placement records, ready to present</a:t>
            </a:r>
            <a:endParaRPr lang="en-US" sz="3200" dirty="0"/>
          </a:p>
        </p:txBody>
      </p:sp>
      <p:sp>
        <p:nvSpPr>
          <p:cNvPr id="3" name="Placements page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4" name="Placements page" descr="/tmp/claude-0/-home-user-Alumniconnect/5967696e-4c5b-59de-8dd8-aa254d433b8b/scratchpad/deck/shots/plac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Placed, on-campus, off-campus icon bg"/>
          <p:cNvSpPr/>
          <p:nvPr/>
        </p:nvSpPr>
        <p:spPr>
          <a:xfrm>
            <a:off x="7863840" y="141732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Placed, on-campus, off-campu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536192"/>
            <a:ext cx="265176" cy="265176"/>
          </a:xfrm>
          <a:prstGeom prst="rect">
            <a:avLst/>
          </a:prstGeom>
        </p:spPr>
      </p:pic>
      <p:sp>
        <p:nvSpPr>
          <p:cNvPr id="7" name="Placed, on-campus, off-campus"/>
          <p:cNvSpPr txBox="1"/>
          <p:nvPr/>
        </p:nvSpPr>
        <p:spPr>
          <a:xfrm>
            <a:off x="8549640" y="1371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Placed, on-campus, off-campus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As a share of each batch, with higher studies and other outcomes.</a:t>
            </a:r>
            <a:endParaRPr lang="en-US" sz="1600" dirty="0"/>
          </a:p>
        </p:txBody>
      </p:sp>
      <p:sp>
        <p:nvSpPr>
          <p:cNvPr id="8" name="Average, median, highest icon bg"/>
          <p:cNvSpPr/>
          <p:nvPr/>
        </p:nvSpPr>
        <p:spPr>
          <a:xfrm>
            <a:off x="7863840" y="269748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9" name="Average, median, highes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16352"/>
            <a:ext cx="265176" cy="265176"/>
          </a:xfrm>
          <a:prstGeom prst="rect">
            <a:avLst/>
          </a:prstGeom>
        </p:spPr>
      </p:pic>
      <p:sp>
        <p:nvSpPr>
          <p:cNvPr id="10" name="Average, median, highest"/>
          <p:cNvSpPr txBox="1"/>
          <p:nvPr/>
        </p:nvSpPr>
        <p:spPr>
          <a:xfrm>
            <a:off x="854964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Average, median, highest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Packages by batch, by course, year by year and by recruiter.</a:t>
            </a:r>
            <a:endParaRPr lang="en-US" sz="1600" dirty="0"/>
          </a:p>
        </p:txBody>
      </p:sp>
      <p:sp>
        <p:nvSpPr>
          <p:cNvPr id="11" name="Right level of detail icon bg"/>
          <p:cNvSpPr/>
          <p:nvPr/>
        </p:nvSpPr>
        <p:spPr>
          <a:xfrm>
            <a:off x="7863840" y="39776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Right level of detai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265176" cy="265176"/>
          </a:xfrm>
          <a:prstGeom prst="rect">
            <a:avLst/>
          </a:prstGeom>
        </p:spPr>
      </p:pic>
      <p:sp>
        <p:nvSpPr>
          <p:cNvPr id="13" name="Right level of detail"/>
          <p:cNvSpPr txBox="1"/>
          <p:nvPr/>
        </p:nvSpPr>
        <p:spPr>
          <a:xfrm>
            <a:off x="8549640" y="39319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Right level of detail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IQAC and faculty see names and download CSV. Students see totals only.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5806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All figures are from the fictional sample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IQAC dashboard and NAAC / NIRF reports</a:t>
            </a:r>
            <a:endParaRPr lang="en-US" sz="3200" dirty="0"/>
          </a:p>
        </p:txBody>
      </p:sp>
      <p:sp>
        <p:nvSpPr>
          <p:cNvPr id="3" name="IQAC overview frame"/>
          <p:cNvSpPr/>
          <p:nvPr/>
        </p:nvSpPr>
        <p:spPr>
          <a:xfrm>
            <a:off x="548640" y="1325880"/>
            <a:ext cx="5394960" cy="33741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4" name="IQAC overview" descr="/tmp/claude-0/-home-user-Alumniconnect/5967696e-4c5b-59de-8dd8-aa254d433b8b/scratchpad/deck/shot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4136"/>
          </a:xfrm>
          <a:prstGeom prst="rect">
            <a:avLst/>
          </a:prstGeom>
        </p:spPr>
      </p:pic>
      <p:sp>
        <p:nvSpPr>
          <p:cNvPr id="5" name="Reports frame"/>
          <p:cNvSpPr/>
          <p:nvPr/>
        </p:nvSpPr>
        <p:spPr>
          <a:xfrm>
            <a:off x="6217920" y="1325880"/>
            <a:ext cx="5394960" cy="33741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6" name="Reports" descr="/tmp/claude-0/-home-user-Alumniconnect/5967696e-4c5b-59de-8dd8-aa254d433b8b/scratchpad/deck/shots/re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41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46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Live totals and charts, filterable by department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846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Awards report with the verifier and proof for every row, downloadable as CSV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Reports: student progression, awards and medals, NIRF graduation outcomes, alumni engagement. Every action is recorded in an audit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a record moves through the system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920240"/>
            <a:ext cx="2423160" cy="26517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4" name="Step icon bg 1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500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Submitted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Student or alumna adds it, or IQAC enters a paper form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tep 2"/>
          <p:cNvSpPr/>
          <p:nvPr/>
        </p:nvSpPr>
        <p:spPr>
          <a:xfrm>
            <a:off x="3429000" y="1920240"/>
            <a:ext cx="2423160" cy="26517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0" name="Step icon bg 2"/>
          <p:cNvSpPr/>
          <p:nvPr/>
        </p:nvSpPr>
        <p:spPr>
          <a:xfrm>
            <a:off x="370332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Ste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0332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Verified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Faculty or IQAC checks the proof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tep 3"/>
          <p:cNvSpPr/>
          <p:nvPr/>
        </p:nvSpPr>
        <p:spPr>
          <a:xfrm>
            <a:off x="6309360" y="1920240"/>
            <a:ext cx="2423160" cy="26517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6" name="Step icon bg 3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Ste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3500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 the profile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0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Shows as verified and becomes searchable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732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tep 4"/>
          <p:cNvSpPr/>
          <p:nvPr/>
        </p:nvSpPr>
        <p:spPr>
          <a:xfrm>
            <a:off x="9189720" y="1920240"/>
            <a:ext cx="2423160" cy="26517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2" name="Step icon bg 4"/>
          <p:cNvSpPr/>
          <p:nvPr/>
        </p:nvSpPr>
        <p:spPr>
          <a:xfrm>
            <a:off x="94640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Step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235000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640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 the reports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464040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Counts towards placements, NAAC and NIRF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 is entered once, at the source, with proof. Every later use reads from the same verified record.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is built</a:t>
            </a:r>
            <a:endParaRPr lang="en-US" sz="3200" dirty="0"/>
          </a:p>
        </p:txBody>
      </p:sp>
      <p:sp>
        <p:nvSpPr>
          <p:cNvPr id="3" name="Frontend icon bg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4" name="Fronten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81912"/>
            <a:ext cx="265176" cy="265176"/>
          </a:xfrm>
          <a:prstGeom prst="rect">
            <a:avLst/>
          </a:prstGeom>
        </p:spPr>
      </p:pic>
      <p:sp>
        <p:nvSpPr>
          <p:cNvPr id="5" name="Frontend"/>
          <p:cNvSpPr txBox="1"/>
          <p:nvPr/>
        </p:nvSpPr>
        <p:spPr>
          <a:xfrm>
            <a:off x="1234440" y="14173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HTML, CSS and JavaScript. Works on phones and computers, no app install.</a:t>
            </a:r>
            <a:endParaRPr lang="en-US" sz="1600" dirty="0"/>
          </a:p>
        </p:txBody>
      </p:sp>
      <p:sp>
        <p:nvSpPr>
          <p:cNvPr id="6" name="Backend icon bg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7" name="Backen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62072"/>
            <a:ext cx="265176" cy="265176"/>
          </a:xfrm>
          <a:prstGeom prst="rect">
            <a:avLst/>
          </a:prstGeom>
        </p:spPr>
      </p:pic>
      <p:sp>
        <p:nvSpPr>
          <p:cNvPr id="8" name="Backend"/>
          <p:cNvSpPr txBox="1"/>
          <p:nvPr/>
        </p:nvSpPr>
        <p:spPr>
          <a:xfrm>
            <a:off x="1234440" y="2697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Node.js with Express, a REST API with role checks on every request.</a:t>
            </a:r>
            <a:endParaRPr lang="en-US" sz="1600" dirty="0"/>
          </a:p>
        </p:txBody>
      </p:sp>
      <p:sp>
        <p:nvSpPr>
          <p:cNvPr id="9" name="Database icon bg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0" name="Databas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42232"/>
            <a:ext cx="265176" cy="265176"/>
          </a:xfrm>
          <a:prstGeom prst="rect">
            <a:avLst/>
          </a:prstGeom>
        </p:spPr>
      </p:pic>
      <p:sp>
        <p:nvSpPr>
          <p:cNvPr id="11" name="Database"/>
          <p:cNvSpPr txBox="1"/>
          <p:nvPr/>
        </p:nvSpPr>
        <p:spPr>
          <a:xfrm>
            <a:off x="1234440" y="3977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SQLite for the prototype. Standard SQL, so it moves to MySQL or PostgreSQL for production.</a:t>
            </a:r>
            <a:endParaRPr lang="en-US" sz="1600" dirty="0"/>
          </a:p>
        </p:txBody>
      </p:sp>
      <p:sp>
        <p:nvSpPr>
          <p:cNvPr id="12" name="Security icon bg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3" name="Securit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581912"/>
            <a:ext cx="265176" cy="265176"/>
          </a:xfrm>
          <a:prstGeom prst="rect">
            <a:avLst/>
          </a:prstGeom>
        </p:spPr>
      </p:pic>
      <p:sp>
        <p:nvSpPr>
          <p:cNvPr id="14" name="Security"/>
          <p:cNvSpPr txBox="1"/>
          <p:nvPr/>
        </p:nvSpPr>
        <p:spPr>
          <a:xfrm>
            <a:off x="6995160" y="14173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Hashed passwords, secure session cookies, parameterised queries, proof files visible only to owner and verifiers.</a:t>
            </a:r>
            <a:endParaRPr lang="en-US" sz="1600" dirty="0"/>
          </a:p>
        </p:txBody>
      </p:sp>
      <p:sp>
        <p:nvSpPr>
          <p:cNvPr id="15" name="Roles icon bg"/>
          <p:cNvSpPr/>
          <p:nvPr/>
        </p:nvSpPr>
        <p:spPr>
          <a:xfrm>
            <a:off x="6309360" y="274320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6" name="Role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862072"/>
            <a:ext cx="265176" cy="265176"/>
          </a:xfrm>
          <a:prstGeom prst="rect">
            <a:avLst/>
          </a:prstGeom>
        </p:spPr>
      </p:pic>
      <p:sp>
        <p:nvSpPr>
          <p:cNvPr id="17" name="Roles"/>
          <p:cNvSpPr txBox="1"/>
          <p:nvPr/>
        </p:nvSpPr>
        <p:spPr>
          <a:xfrm>
            <a:off x="6995160" y="269748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Roles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Student, alumni, faculty verifier and IQAC admin each see only what they need.</a:t>
            </a:r>
            <a:endParaRPr lang="en-US" sz="1600" dirty="0"/>
          </a:p>
        </p:txBody>
      </p:sp>
      <p:sp>
        <p:nvSpPr>
          <p:cNvPr id="18" name="Optional AI icon bg"/>
          <p:cNvSpPr/>
          <p:nvPr/>
        </p:nvSpPr>
        <p:spPr>
          <a:xfrm>
            <a:off x="6309360" y="4023360"/>
            <a:ext cx="502920" cy="50292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9" name="Optional AI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142232"/>
            <a:ext cx="265176" cy="265176"/>
          </a:xfrm>
          <a:prstGeom prst="rect">
            <a:avLst/>
          </a:prstGeom>
        </p:spPr>
      </p:pic>
      <p:sp>
        <p:nvSpPr>
          <p:cNvPr id="20" name="Optional AI"/>
          <p:cNvSpPr txBox="1"/>
          <p:nvPr/>
        </p:nvSpPr>
        <p:spPr>
          <a:xfrm>
            <a:off x="6995160" y="39776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Optional AI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Reads handwritten scans into fields when switched on. Nothing is saved without a person’s approval.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Rollout plan</a:t>
            </a:r>
            <a:endParaRPr lang="en-US" sz="3200" dirty="0"/>
          </a:p>
        </p:txBody>
      </p:sp>
      <p:sp>
        <p:nvSpPr>
          <p:cNvPr id="3" name="Phase 1"/>
          <p:cNvSpPr/>
          <p:nvPr/>
        </p:nvSpPr>
        <p:spPr>
          <a:xfrm>
            <a:off x="548640" y="1645920"/>
            <a:ext cx="3474720" cy="31089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Pilot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department. Digitize one batch of paper forms and test with its students and alumni.</a:t>
            </a:r>
            <a:endParaRPr lang="en-US" sz="1500" dirty="0"/>
          </a:p>
        </p:txBody>
      </p:sp>
      <p:sp>
        <p:nvSpPr>
          <p:cNvPr id="7" name="Phase 2"/>
          <p:cNvSpPr/>
          <p:nvPr/>
        </p:nvSpPr>
        <p:spPr>
          <a:xfrm>
            <a:off x="4297680" y="1645920"/>
            <a:ext cx="3474720" cy="31089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Phase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All departments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26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Faculty verifiers in every department. Older batches digitized in bundles by IQAC staff and volunteers.</a:t>
            </a:r>
            <a:endParaRPr lang="en-US" sz="1500" dirty="0"/>
          </a:p>
        </p:txBody>
      </p:sp>
      <p:sp>
        <p:nvSpPr>
          <p:cNvPr id="11" name="Phase 3"/>
          <p:cNvSpPr/>
          <p:nvPr/>
        </p:nvSpPr>
        <p:spPr>
          <a:xfrm>
            <a:off x="8046720" y="1645920"/>
            <a:ext cx="3474720" cy="31089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Phase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Every year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26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Final-year students become alumni automatically. NAAC, NIRF and placement reports come straight from the system.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Not in this version yet: email notifications and attendance.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Try it live: alumniconnect-cpva.onrender.com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priya@college.example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ishita@college.example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rekha@college.example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IQAC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iqac@college.example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Password for all: demo1234 · All names and figures are fictional sample data.</a:t>
            </a:r>
            <a:endParaRPr lang="en-US" sz="1200" dirty="0"/>
          </a:p>
        </p:txBody>
      </p:sp>
      <p:sp>
        <p:nvSpPr>
          <p:cNvPr id="6" name="Phone frame"/>
          <p:cNvSpPr/>
          <p:nvPr/>
        </p:nvSpPr>
        <p:spPr>
          <a:xfrm>
            <a:off x="7863840" y="548640"/>
            <a:ext cx="2660904" cy="57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C2430">
                <a:alpha val="12000"/>
              </a:srgbClr>
            </a:outerShdw>
          </a:effectLst>
        </p:spPr>
      </p:sp>
      <p:pic>
        <p:nvPicPr>
          <p:cNvPr id="7" name="Profile on a phone" descr="/tmp/claude-0/-home-user-Alumniconnect/5967696e-4c5b-59de-8dd8-aa254d433b8b/scratchpad/deck/shot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48640"/>
            <a:ext cx="2660904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umniConnect">
  <a:themeElements>
    <a:clrScheme name="AlumniConnect">
      <a:dk1>
        <a:srgbClr val="1C2430"/>
      </a:dk1>
      <a:lt1>
        <a:srgbClr val="FFFFFF"/>
      </a:lt1>
      <a:dk2>
        <a:srgbClr val="23569B"/>
      </a:dk2>
      <a:lt2>
        <a:srgbClr val="F3F6FA"/>
      </a:lt2>
      <a:accent1>
        <a:srgbClr val="23569B"/>
      </a:accent1>
      <a:accent2>
        <a:srgbClr val="2F7A5B"/>
      </a:accent2>
      <a:accent3>
        <a:srgbClr val="A3740F"/>
      </a:accent3>
      <a:accent4>
        <a:srgbClr val="6B7686"/>
      </a:accent4>
      <a:accent5>
        <a:srgbClr val="C9D6E8"/>
      </a:accent5>
      <a:accent6>
        <a:srgbClr val="E2E5EA"/>
      </a:accent6>
      <a:hlink>
        <a:srgbClr val="23569B"/>
      </a:hlink>
      <a:folHlink>
        <a:srgbClr val="5A3F7C"/>
      </a:folHlink>
    </a:clrScheme>
    <a:fontScheme name="AlumniConnec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AlumniConnect</dc:title>
  <dc:subject>PptxGenJS Presentation</dc:subject>
  <dc:creator>AlumniConnect team</dc:creator>
  <cp:lastModifiedBy>AlumniConnect team</cp:lastModifiedBy>
  <cp:revision>1</cp:revision>
  <dcterms:created xsi:type="dcterms:W3CDTF">2026-10-18T18:41:23Z</dcterms:created>
  <dcterms:modified xsi:type="dcterms:W3CDTF">2026-10-18T18:41:23Z</dcterms:modified>
</cp:coreProperties>
</file>